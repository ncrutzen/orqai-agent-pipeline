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Emails</c:v>
                </c:pt>
              </c:strCache>
            </c:strRef>
          </c:tx>
          <c:spPr>
            <a:solidFill>
              <a:srgbClr val="1668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668C7"/>
                    </a:solidFill>
                    <a:latin typeface="Lat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order@berki.nl</c:v>
                  </c:pt>
                  <c:pt idx="1">
                    <c:v>order@fire-control.nl</c:v>
                  </c:pt>
                  <c:pt idx="2">
                    <c:v>info@fire-control.nl</c:v>
                  </c:pt>
                  <c:pt idx="3">
                    <c:v>debiteuren@berki.nl</c:v>
                  </c:pt>
                  <c:pt idx="4">
                    <c:v>debiteuren@smeba-fire.be</c:v>
                  </c:pt>
                  <c:pt idx="5">
                    <c:v>administratie@fire-control.nl</c:v>
                  </c:pt>
                  <c:pt idx="6">
                    <c:v>debiteuren@smeba.nl</c:v>
                  </c:pt>
                  <c:pt idx="7">
                    <c:v>verkoop@smeba.nl</c:v>
                  </c:pt>
                  <c:pt idx="8">
                    <c:v>info@smeba.nl</c:v>
                  </c:pt>
                  <c:pt idx="9">
                    <c:v>order@smeba.nl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118</c:v>
                </c:pt>
                <c:pt idx="1">
                  <c:v>129</c:v>
                </c:pt>
                <c:pt idx="2">
                  <c:v>240</c:v>
                </c:pt>
                <c:pt idx="3">
                  <c:v>361</c:v>
                </c:pt>
                <c:pt idx="4">
                  <c:v>402</c:v>
                </c:pt>
                <c:pt idx="5">
                  <c:v>513</c:v>
                </c:pt>
                <c:pt idx="6">
                  <c:v>716</c:v>
                </c:pt>
                <c:pt idx="7">
                  <c:v>1331</c:v>
                </c:pt>
                <c:pt idx="8">
                  <c:v>1802</c:v>
                </c:pt>
                <c:pt idx="9">
                  <c:v>2106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668C7"/>
                  </a:solidFill>
                  <a:latin typeface="Lat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6526A"/>
                </a:solidFill>
                <a:latin typeface="La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531A"/>
          </a:solidFill>
          <a:ln/>
        </p:spPr>
      </p:sp>
      <p:pic>
        <p:nvPicPr>
          <p:cNvPr id="3" name="Image 0" descr="/sessions/nice-compassionate-knuth/mnt/agent-workforce/web/public/brand/moyne-robert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2377440" cy="39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05095" y="640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 WORKFORCE UPDATE   ·   Edition #1 · 17 June 2026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1828800"/>
            <a:ext cx="9692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your digital colleagues have been doing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685800" y="3977640"/>
            <a:ext cx="2926080" cy="0"/>
          </a:xfrm>
          <a:prstGeom prst="line">
            <a:avLst/>
          </a:prstGeom>
          <a:noFill/>
          <a:ln w="38100">
            <a:solidFill>
              <a:srgbClr val="E853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420624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6526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Now live in Outlook across ten mailboxes and four brands. The workforce reads, sorts and matches every email, then prepares the next step. One mailbox already acts on its own; the rest stay in shadow mode — proposing, never changing anything until you sign off.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Moyne Roberts · Trusted Safety Solutions</a:t>
            </a:r>
            <a:endParaRPr lang="en-US" sz="1200" dirty="0"/>
          </a:p>
        </p:txBody>
      </p:sp>
      <p:pic>
        <p:nvPicPr>
          <p:cNvPr id="9" name="Image 1" descr="/sessions/nice-compassionate-knuth/mnt/agent-workforce/web/lib/automations/workforce-update/assets/w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72200"/>
            <a:ext cx="12191695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Where we are 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207008"/>
            <a:ext cx="10820095" cy="0"/>
          </a:xfrm>
          <a:prstGeom prst="line">
            <a:avLst/>
          </a:prstGeom>
          <a:noFill/>
          <a:ln w="12700">
            <a:solidFill>
              <a:srgbClr val="E2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011680"/>
            <a:ext cx="336285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0"/>
            <a:ext cx="91440" cy="2651760"/>
          </a:xfrm>
          <a:prstGeom prst="rect">
            <a:avLst/>
          </a:prstGeom>
          <a:solidFill>
            <a:srgbClr val="1668C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31720"/>
            <a:ext cx="27227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668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● </a:t>
            </a:r>
            <a:pPr indent="0" marL="0">
              <a:buNone/>
            </a:pPr>
            <a:r>
              <a:rPr lang="en-US" sz="1800" b="1" spc="100" kern="0" dirty="0">
                <a:solidFill>
                  <a:srgbClr val="1668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2277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6526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Acts on its own in your inbox — sorting, labelling and routing. (You still send the replies.)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14418" y="2011680"/>
            <a:ext cx="336285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4418" y="2011680"/>
            <a:ext cx="91440" cy="2651760"/>
          </a:xfrm>
          <a:prstGeom prst="rect">
            <a:avLst/>
          </a:prstGeom>
          <a:solidFill>
            <a:srgbClr val="E8531A"/>
          </a:solidFill>
          <a:ln/>
        </p:spPr>
      </p:sp>
      <p:sp>
        <p:nvSpPr>
          <p:cNvPr id="10" name="Text 8"/>
          <p:cNvSpPr/>
          <p:nvPr/>
        </p:nvSpPr>
        <p:spPr>
          <a:xfrm>
            <a:off x="4734458" y="2331720"/>
            <a:ext cx="27227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E853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● </a:t>
            </a:r>
            <a:pPr indent="0" marL="0">
              <a:buNone/>
            </a:pPr>
            <a:r>
              <a:rPr lang="en-US" sz="1800" b="1" spc="100" kern="0" dirty="0">
                <a:solidFill>
                  <a:srgbClr val="E853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DRY-RUN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34458" y="2926080"/>
            <a:ext cx="272277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6526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Labels mail in Outlook with the detected intent, but takes no automatic action on it yet.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43037" y="2011680"/>
            <a:ext cx="336285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43037" y="2011680"/>
            <a:ext cx="91440" cy="2651760"/>
          </a:xfrm>
          <a:prstGeom prst="rect">
            <a:avLst/>
          </a:prstGeom>
          <a:solidFill>
            <a:srgbClr val="5B6B8C"/>
          </a:solidFill>
          <a:ln/>
        </p:spPr>
      </p:sp>
      <p:sp>
        <p:nvSpPr>
          <p:cNvPr id="14" name="Text 12"/>
          <p:cNvSpPr/>
          <p:nvPr/>
        </p:nvSpPr>
        <p:spPr>
          <a:xfrm>
            <a:off x="8463077" y="2331720"/>
            <a:ext cx="27227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5B6B8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● </a:t>
            </a:r>
            <a:pPr indent="0" marL="0">
              <a:buNone/>
            </a:pPr>
            <a:r>
              <a:rPr lang="en-US" sz="1800" b="1" spc="100" kern="0" dirty="0">
                <a:solidFill>
                  <a:srgbClr val="5B6B8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SHADOW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63077" y="2926080"/>
            <a:ext cx="272277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6526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Runs behind the scenes — you only see it in the Bulk Review tool. Nothing changes in Outlook.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email goes through five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207008"/>
            <a:ext cx="10820095" cy="0"/>
          </a:xfrm>
          <a:prstGeom prst="line">
            <a:avLst/>
          </a:prstGeom>
          <a:noFill/>
          <a:ln w="12700">
            <a:solidFill>
              <a:srgbClr val="E2E6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1732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6526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shared process for every brand and team — each step handled by its own digital colleague.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767810" y="3154680"/>
            <a:ext cx="2164019" cy="0"/>
          </a:xfrm>
          <a:prstGeom prst="line">
            <a:avLst/>
          </a:prstGeom>
          <a:noFill/>
          <a:ln w="25400">
            <a:solidFill>
              <a:srgbClr val="1668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829" y="3154680"/>
            <a:ext cx="2164019" cy="0"/>
          </a:xfrm>
          <a:prstGeom prst="line">
            <a:avLst/>
          </a:prstGeom>
          <a:noFill/>
          <a:ln w="25400">
            <a:solidFill>
              <a:srgbClr val="1668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5848" y="3154680"/>
            <a:ext cx="2164019" cy="0"/>
          </a:xfrm>
          <a:prstGeom prst="line">
            <a:avLst/>
          </a:prstGeom>
          <a:noFill/>
          <a:ln w="25400">
            <a:solidFill>
              <a:srgbClr val="1668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59867" y="3154680"/>
            <a:ext cx="2164019" cy="0"/>
          </a:xfrm>
          <a:prstGeom prst="line">
            <a:avLst/>
          </a:prstGeom>
          <a:noFill/>
          <a:ln w="25400">
            <a:solidFill>
              <a:srgbClr val="9AA3B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182594" y="2569464"/>
            <a:ext cx="1170432" cy="11704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6EE"/>
            </a:solidFill>
            <a:prstDash val="solid"/>
          </a:ln>
        </p:spPr>
      </p:sp>
      <p:pic>
        <p:nvPicPr>
          <p:cNvPr id="10" name="Image 0" descr="/sessions/nice-compassionate-knuth/mnt/agent-workforce/web/lib/automations/workforce-update/assets/avatars/safe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170" y="2606040"/>
            <a:ext cx="1097280" cy="1097280"/>
          </a:xfrm>
          <a:prstGeom prst="ellipse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3886200"/>
            <a:ext cx="1981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Marshall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77240" y="4288536"/>
            <a:ext cx="19811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668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Gatekeeper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4636008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CHECK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46613" y="2569464"/>
            <a:ext cx="1170432" cy="11704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6EE"/>
            </a:solidFill>
            <a:prstDash val="solid"/>
          </a:ln>
        </p:spPr>
      </p:sp>
      <p:pic>
        <p:nvPicPr>
          <p:cNvPr id="15" name="Image 1" descr="/sessions/nice-compassionate-knuth/mnt/agent-workforce/web/lib/automations/workforce-update/assets/avatars/cl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189" y="2606040"/>
            <a:ext cx="1097280" cy="1097280"/>
          </a:xfrm>
          <a:prstGeom prst="ellipse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41259" y="3886200"/>
            <a:ext cx="1981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Cleo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2941259" y="4288536"/>
            <a:ext cx="19811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668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Smart Sorter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941259" y="4636008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SORT THE NOISE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510632" y="2569464"/>
            <a:ext cx="1170432" cy="11704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6EE"/>
            </a:solidFill>
            <a:prstDash val="solid"/>
          </a:ln>
        </p:spPr>
      </p:sp>
      <p:pic>
        <p:nvPicPr>
          <p:cNvPr id="20" name="Image 2" descr="/sessions/nice-compassionate-knuth/mnt/agent-workforce/web/lib/automations/workforce-update/assets/avatars/cre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208" y="2606040"/>
            <a:ext cx="1097280" cy="1097280"/>
          </a:xfrm>
          <a:prstGeom prst="ellipse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05278" y="3886200"/>
            <a:ext cx="1981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Iris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5105278" y="4288536"/>
            <a:ext cx="19811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668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Customer Matcher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105278" y="4636008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MATCH THE CUSTOMER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674651" y="2569464"/>
            <a:ext cx="1170432" cy="11704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6EE"/>
            </a:solidFill>
            <a:prstDash val="solid"/>
          </a:ln>
        </p:spPr>
      </p:sp>
      <p:pic>
        <p:nvPicPr>
          <p:cNvPr id="25" name="Image 3" descr="/sessions/nice-compassionate-knuth/mnt/agent-workforce/web/lib/automations/workforce-update/assets/avatars/debbi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1227" y="2606040"/>
            <a:ext cx="1097280" cy="1097280"/>
          </a:xfrm>
          <a:prstGeom prst="ellipse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69297" y="3886200"/>
            <a:ext cx="1981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Debbie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7269297" y="4288536"/>
            <a:ext cx="19811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668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Team Lead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269297" y="4636008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DECIDE THE ACTION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9838670" y="2569464"/>
            <a:ext cx="1170432" cy="11704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3B2"/>
            </a:solidFill>
            <a:prstDash val="solid"/>
          </a:ln>
        </p:spPr>
      </p:sp>
      <p:pic>
        <p:nvPicPr>
          <p:cNvPr id="30" name="Image 4" descr="/sessions/nice-compassionate-knuth/mnt/agent-workforce/web/lib/automations/workforce-update/assets/avatars/invoicecop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246" y="2606040"/>
            <a:ext cx="1097280" cy="1097280"/>
          </a:xfrm>
          <a:prstGeom prst="ellipse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433316" y="3886200"/>
            <a:ext cx="1981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Quinn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9433316" y="4288536"/>
            <a:ext cx="19811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668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Drafter (+ team)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9433316" y="4636008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 THE WORK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9433316" y="4946904"/>
            <a:ext cx="19811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AA3B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 YET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Cleo and Debbie are on the roster; Marshall, Iris and Quinn are proposed names. Avatars: Personas by Draftbit (CC BY 4.0).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What's switched on, per mailbox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76695" y="640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WHICH FUNNEL STAGE IS ACTIVE PER MAILBOX — AND WHAT YOU'LL SEE WHERE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207008"/>
            <a:ext cx="10820095" cy="0"/>
          </a:xfrm>
          <a:prstGeom prst="line">
            <a:avLst/>
          </a:prstGeom>
          <a:noFill/>
          <a:ln w="12700">
            <a:solidFill>
              <a:srgbClr val="E2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155448" cy="155448"/>
          </a:xfrm>
          <a:prstGeom prst="ellipse">
            <a:avLst/>
          </a:prstGeom>
          <a:solidFill>
            <a:srgbClr val="1668C7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2984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526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Live — acts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27248" y="1371600"/>
            <a:ext cx="155448" cy="155448"/>
          </a:xfrm>
          <a:prstGeom prst="ellipse">
            <a:avLst/>
          </a:prstGeom>
          <a:solidFill>
            <a:srgbClr val="E8531A"/>
          </a:solidFill>
          <a:ln/>
        </p:spPr>
      </p:sp>
      <p:sp>
        <p:nvSpPr>
          <p:cNvPr id="8" name="Text 6"/>
          <p:cNvSpPr/>
          <p:nvPr/>
        </p:nvSpPr>
        <p:spPr>
          <a:xfrm>
            <a:off x="3328416" y="12984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526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Dry-run — label only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568696" y="1371600"/>
            <a:ext cx="155448" cy="155448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0" name="Text 8"/>
          <p:cNvSpPr/>
          <p:nvPr/>
        </p:nvSpPr>
        <p:spPr>
          <a:xfrm>
            <a:off x="5769864" y="12984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526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Shadow — Bulk Review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10144" y="1371600"/>
            <a:ext cx="155448" cy="155448"/>
          </a:xfrm>
          <a:prstGeom prst="ellipse">
            <a:avLst/>
          </a:prstGeom>
          <a:solidFill>
            <a:srgbClr val="9AA3B2"/>
          </a:solidFill>
          <a:ln/>
        </p:spPr>
      </p:sp>
      <p:sp>
        <p:nvSpPr>
          <p:cNvPr id="12" name="Text 10"/>
          <p:cNvSpPr/>
          <p:nvPr/>
        </p:nvSpPr>
        <p:spPr>
          <a:xfrm>
            <a:off x="8211312" y="12984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526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 yet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523390"/>
                <a:gridCol w="1523390"/>
                <a:gridCol w="1523390"/>
                <a:gridCol w="1523390"/>
                <a:gridCol w="152339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Mailbox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Reads &amp; screens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Archives noise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Matches customer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Intent label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Drafts reply</a:t>
                      </a:r>
                      <a:endParaRPr lang="en-US" sz="9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4253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verkoop@smeba.nl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○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◐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3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4253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debiteuren@smeba.nl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○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◐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3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4253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debiteuren@smeba-fire.be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○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◐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3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4253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debiteuren@berki.nl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○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◐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3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4253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administratie@fire-control.nl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○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○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4253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info@smeba.nl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4253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info@fire-control.nl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4253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order@smeba.nl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○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4253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order@fire-control.nl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○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4253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order@berki.nl</a:t>
                      </a:r>
                      <a:endParaRPr lang="en-US" sz="10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○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3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85800" y="635508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Shadow = runs behind the scenes; visible only in the Bulk Review tool, nothing in Outlook. Dry-run = the label already appears in Outlook, but the workforce doesn't act on it automatically yet. Live = it acts on its own. States reflect current config — verify before sending.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By the numbers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76695" y="640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SINCE LAUNCH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207008"/>
            <a:ext cx="10820095" cy="0"/>
          </a:xfrm>
          <a:prstGeom prst="line">
            <a:avLst/>
          </a:prstGeom>
          <a:noFill/>
          <a:ln w="12700">
            <a:solidFill>
              <a:srgbClr val="E2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2522144" cy="9144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2430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E853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MAILBOXES CONNECTED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2971800"/>
            <a:ext cx="2430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workforce is watching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0824" y="1783080"/>
            <a:ext cx="0" cy="1554480"/>
          </a:xfrm>
          <a:prstGeom prst="line">
            <a:avLst/>
          </a:prstGeom>
          <a:noFill/>
          <a:ln w="12700">
            <a:solidFill>
              <a:srgbClr val="E2E6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73704" y="1691640"/>
            <a:ext cx="2522144" cy="9144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±7,700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665144" y="2651760"/>
            <a:ext cx="2430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E853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EMAILS PROCESSED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65144" y="2971800"/>
            <a:ext cx="2430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last 45 days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5848" y="1783080"/>
            <a:ext cx="0" cy="1554480"/>
          </a:xfrm>
          <a:prstGeom prst="line">
            <a:avLst/>
          </a:prstGeom>
          <a:noFill/>
          <a:ln w="12700">
            <a:solidFill>
              <a:srgbClr val="E2E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8728" y="1691640"/>
            <a:ext cx="2522144" cy="9144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370168" y="2651760"/>
            <a:ext cx="2430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E853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BRANDS CONNECTED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70168" y="2971800"/>
            <a:ext cx="2430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across NL &amp; Belgium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00871" y="1783080"/>
            <a:ext cx="0" cy="1554480"/>
          </a:xfrm>
          <a:prstGeom prst="line">
            <a:avLst/>
          </a:prstGeom>
          <a:noFill/>
          <a:ln w="12700">
            <a:solidFill>
              <a:srgbClr val="E2E6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83751" y="1691640"/>
            <a:ext cx="2522144" cy="9144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9075191" y="2651760"/>
            <a:ext cx="2430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E853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MAILBOX ACTING LIVE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075191" y="2971800"/>
            <a:ext cx="2430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sorts &amp; routes, no replies yet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Mail across your mailboxes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76695" y="640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EMAILS RECEIVED PER MAILBOX · LAST 45 DAYS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207008"/>
            <a:ext cx="10820095" cy="0"/>
          </a:xfrm>
          <a:prstGeom prst="line">
            <a:avLst/>
          </a:prstGeom>
          <a:noFill/>
          <a:ln w="12700">
            <a:solidFill>
              <a:srgbClr val="E2E6EE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85800" y="1463040"/>
          <a:ext cx="10820095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71600"/>
            <a:ext cx="2926080" cy="0"/>
          </a:xfrm>
          <a:prstGeom prst="line">
            <a:avLst/>
          </a:prstGeom>
          <a:noFill/>
          <a:ln w="38100">
            <a:solidFill>
              <a:srgbClr val="1668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554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 learns from how you work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9D3E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 watches how you correct it, and improves with every edit.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3712464"/>
            <a:ext cx="292608" cy="292608"/>
          </a:xfrm>
          <a:prstGeom prst="rect">
            <a:avLst/>
          </a:prstGeom>
          <a:solidFill>
            <a:srgbClr val="E8531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37124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3ECD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Change or remove a label → it learns the label was wrong.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85800" y="4581144"/>
            <a:ext cx="292608" cy="292608"/>
          </a:xfrm>
          <a:prstGeom prst="rect">
            <a:avLst/>
          </a:prstGeom>
          <a:solidFill>
            <a:srgbClr val="E8531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4581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4526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3ECD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Drag an email elsewhere → it learns where it belongs.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85800" y="5449824"/>
            <a:ext cx="292608" cy="292608"/>
          </a:xfrm>
          <a:prstGeom prst="rect">
            <a:avLst/>
          </a:prstGeom>
          <a:solidFill>
            <a:srgbClr val="E8531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5449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5394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3ECD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Edit or reject a draft → it sharpens the next suggestion.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What's new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207008"/>
            <a:ext cx="10820095" cy="0"/>
          </a:xfrm>
          <a:prstGeom prst="line">
            <a:avLst/>
          </a:prstGeom>
          <a:noFill/>
          <a:ln w="12700">
            <a:solidFill>
              <a:srgbClr val="E2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984248"/>
            <a:ext cx="457200" cy="457200"/>
          </a:xfrm>
          <a:prstGeom prst="ellipse">
            <a:avLst/>
          </a:prstGeom>
          <a:solidFill>
            <a:srgbClr val="E7F0F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8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Sales mailbox acts on its own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2944368"/>
            <a:ext cx="457200" cy="457200"/>
          </a:xfrm>
          <a:prstGeom prst="ellipse">
            <a:avLst/>
          </a:prstGeom>
          <a:solidFill>
            <a:srgbClr val="E7F0F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8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926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Smart labels in Outlook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85800" y="3904488"/>
            <a:ext cx="457200" cy="457200"/>
          </a:xfrm>
          <a:prstGeom prst="ellipse">
            <a:avLst/>
          </a:prstGeom>
          <a:solidFill>
            <a:srgbClr val="E7F0F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8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886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 learns from your corrections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E7F0F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864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8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846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 recognised automatically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76695" y="640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 DEVELOPMENT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207008"/>
            <a:ext cx="10820095" cy="0"/>
          </a:xfrm>
          <a:prstGeom prst="line">
            <a:avLst/>
          </a:prstGeom>
          <a:noFill/>
          <a:ln w="12700">
            <a:solidFill>
              <a:srgbClr val="E2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3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2011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Mail routed to the right team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3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2971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Rules in plain language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3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3931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More customers recognised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539496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Roadmap is a proposal based on the planning — adjust to what you want to communicate.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531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286000"/>
            <a:ext cx="2926080" cy="0"/>
          </a:xfrm>
          <a:prstGeom prst="line">
            <a:avLst/>
          </a:prstGeom>
          <a:noFill/>
          <a:ln w="38100">
            <a:solidFill>
              <a:srgbClr val="1668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Questions or feedback?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34747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9D3E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Everything runs in shadow mode unless stated otherwise — no changes without your sign-off.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4754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Moyne Roberts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5166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Moyne Roberts · Trusted Safety Solutions  ·  MR Automations</a:t>
            </a:r>
            <a:endParaRPr lang="en-US" sz="1200" dirty="0"/>
          </a:p>
        </p:txBody>
      </p:sp>
      <p:pic>
        <p:nvPicPr>
          <p:cNvPr id="8" name="Image 0" descr="/sessions/nice-compassionate-knuth/mnt/agent-workforce/web/lib/automations/workforce-update/assets/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35040"/>
            <a:ext cx="12191695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2026-06-18T15:36:08Z</dcterms:created>
  <dcterms:modified xsi:type="dcterms:W3CDTF">2026-06-18T15:36:08Z</dcterms:modified>
</cp:coreProperties>
</file>