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531A"/>
          </a:solidFill>
          <a:ln/>
        </p:spPr>
      </p:sp>
      <p:pic>
        <p:nvPicPr>
          <p:cNvPr id="3" name="Image 0" descr="/sessions/nice-compassionate-knuth/mnt/agent-workforce/web/public/brand/moyne-robert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2377440" cy="39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05095" y="640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6B758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 WORKFORCE UPDATE   ·   Edition #2 · 25 June 2026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1828800"/>
            <a:ext cx="9692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your digital colleagues have been doing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685800" y="3977640"/>
            <a:ext cx="2926080" cy="0"/>
          </a:xfrm>
          <a:prstGeom prst="line">
            <a:avLst/>
          </a:prstGeom>
          <a:noFill/>
          <a:ln w="38100">
            <a:solidFill>
              <a:srgbClr val="E853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420624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6526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look back at June. The agent workforce now spans thirteen mailboxes across four brands — the sales assistant went live for Smeba, Fire Control and Berki, and info@ mail is now routed to the right team automatically. It reads, sorts and matches every email and prepares the next step, still changing nothing in shadow and dry-run until each mailbox is signed off.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5806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Moyne Roberts · Trusted Safety Solutions</a:t>
            </a:r>
            <a:endParaRPr lang="en-US" sz="1200" dirty="0"/>
          </a:p>
        </p:txBody>
      </p:sp>
      <p:pic>
        <p:nvPicPr>
          <p:cNvPr id="9" name="Image 1" descr="/sessions/nice-compassionate-knuth/mnt/agent-workforce/web/lib/automations/workforce-update/assets/w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72200"/>
            <a:ext cx="12191695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Where we are 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207008"/>
            <a:ext cx="10820095" cy="0"/>
          </a:xfrm>
          <a:prstGeom prst="line">
            <a:avLst/>
          </a:prstGeom>
          <a:noFill/>
          <a:ln w="12700">
            <a:solidFill>
              <a:srgbClr val="E2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2011680"/>
            <a:ext cx="336285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0"/>
            <a:ext cx="91440" cy="2651760"/>
          </a:xfrm>
          <a:prstGeom prst="rect">
            <a:avLst/>
          </a:prstGeom>
          <a:solidFill>
            <a:srgbClr val="1668C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331720"/>
            <a:ext cx="27227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668C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● </a:t>
            </a:r>
            <a:pPr indent="0" marL="0">
              <a:buNone/>
            </a:pPr>
            <a:r>
              <a:rPr lang="en-US" sz="1800" b="1" spc="100" kern="0" dirty="0">
                <a:solidFill>
                  <a:srgbClr val="1668C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2277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6526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Acts on its own in your inbox — sorting, labelling and routing. (You still send the replies.)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14418" y="2011680"/>
            <a:ext cx="336285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14418" y="2011680"/>
            <a:ext cx="91440" cy="2651760"/>
          </a:xfrm>
          <a:prstGeom prst="rect">
            <a:avLst/>
          </a:prstGeom>
          <a:solidFill>
            <a:srgbClr val="E8531A"/>
          </a:solidFill>
          <a:ln/>
        </p:spPr>
      </p:sp>
      <p:sp>
        <p:nvSpPr>
          <p:cNvPr id="10" name="Text 8"/>
          <p:cNvSpPr/>
          <p:nvPr/>
        </p:nvSpPr>
        <p:spPr>
          <a:xfrm>
            <a:off x="4734458" y="2331720"/>
            <a:ext cx="27227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E853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● </a:t>
            </a:r>
            <a:pPr indent="0" marL="0">
              <a:buNone/>
            </a:pPr>
            <a:r>
              <a:rPr lang="en-US" sz="1800" b="1" spc="100" kern="0" dirty="0">
                <a:solidFill>
                  <a:srgbClr val="E853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DRY-RUN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34458" y="2926080"/>
            <a:ext cx="272277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6526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Labels mail in Outlook with the detected intent, but takes no automatic action on it yet.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43037" y="2011680"/>
            <a:ext cx="336285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43037" y="2011680"/>
            <a:ext cx="91440" cy="2651760"/>
          </a:xfrm>
          <a:prstGeom prst="rect">
            <a:avLst/>
          </a:prstGeom>
          <a:solidFill>
            <a:srgbClr val="5B6B8C"/>
          </a:solidFill>
          <a:ln/>
        </p:spPr>
      </p:sp>
      <p:sp>
        <p:nvSpPr>
          <p:cNvPr id="14" name="Text 12"/>
          <p:cNvSpPr/>
          <p:nvPr/>
        </p:nvSpPr>
        <p:spPr>
          <a:xfrm>
            <a:off x="8463077" y="2331720"/>
            <a:ext cx="27227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5B6B8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● </a:t>
            </a:r>
            <a:pPr indent="0" marL="0">
              <a:buNone/>
            </a:pPr>
            <a:r>
              <a:rPr lang="en-US" sz="1800" b="1" spc="100" kern="0" dirty="0">
                <a:solidFill>
                  <a:srgbClr val="5B6B8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SHADOW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63077" y="2926080"/>
            <a:ext cx="272277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6526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Runs behind the scenes — you only see it in the Bulk Review tool. Nothing changes in Outlook.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 email goes through five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207008"/>
            <a:ext cx="10820095" cy="0"/>
          </a:xfrm>
          <a:prstGeom prst="line">
            <a:avLst/>
          </a:prstGeom>
          <a:noFill/>
          <a:ln w="12700">
            <a:solidFill>
              <a:srgbClr val="E2E6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1732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6526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One shared process for every brand and team — each step handled by its own digital colleague.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767810" y="2857500"/>
            <a:ext cx="2164019" cy="0"/>
          </a:xfrm>
          <a:prstGeom prst="line">
            <a:avLst/>
          </a:prstGeom>
          <a:noFill/>
          <a:ln w="25400">
            <a:solidFill>
              <a:srgbClr val="1668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829" y="2857500"/>
            <a:ext cx="2164019" cy="0"/>
          </a:xfrm>
          <a:prstGeom prst="line">
            <a:avLst/>
          </a:prstGeom>
          <a:noFill/>
          <a:ln w="25400">
            <a:solidFill>
              <a:srgbClr val="1668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5848" y="2857500"/>
            <a:ext cx="2164019" cy="0"/>
          </a:xfrm>
          <a:prstGeom prst="line">
            <a:avLst/>
          </a:prstGeom>
          <a:noFill/>
          <a:ln w="25400">
            <a:solidFill>
              <a:srgbClr val="1668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59867" y="2857500"/>
            <a:ext cx="2164019" cy="0"/>
          </a:xfrm>
          <a:prstGeom prst="line">
            <a:avLst/>
          </a:prstGeom>
          <a:noFill/>
          <a:ln w="25400">
            <a:solidFill>
              <a:srgbClr val="9AA3B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205454" y="2295144"/>
            <a:ext cx="1124712" cy="11247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6EE"/>
            </a:solidFill>
            <a:prstDash val="solid"/>
          </a:ln>
        </p:spPr>
      </p:sp>
      <p:pic>
        <p:nvPicPr>
          <p:cNvPr id="10" name="Image 0" descr="/sessions/nice-compassionate-knuth/mnt/agent-workforce/web/lib/automations/workforce-update/assets/avatars/safe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2030" y="2331720"/>
            <a:ext cx="1051560" cy="1051560"/>
          </a:xfrm>
          <a:prstGeom prst="ellipse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3547872"/>
            <a:ext cx="1981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Marshall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77240" y="3950208"/>
            <a:ext cx="19811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668C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Gatekeeper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42976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6B758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CHECK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69473" y="2295144"/>
            <a:ext cx="1124712" cy="11247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6EE"/>
            </a:solidFill>
            <a:prstDash val="solid"/>
          </a:ln>
        </p:spPr>
      </p:sp>
      <p:pic>
        <p:nvPicPr>
          <p:cNvPr id="15" name="Image 1" descr="/sessions/nice-compassionate-knuth/mnt/agent-workforce/web/lib/automations/workforce-update/assets/avatars/cl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049" y="2331720"/>
            <a:ext cx="1051560" cy="1051560"/>
          </a:xfrm>
          <a:prstGeom prst="ellipse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941259" y="3547872"/>
            <a:ext cx="1981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Cleo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2941259" y="3950208"/>
            <a:ext cx="19811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668C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Smart Sorter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941259" y="42976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6B758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SORT THE NOISE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533492" y="2295144"/>
            <a:ext cx="1124712" cy="11247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6EE"/>
            </a:solidFill>
            <a:prstDash val="solid"/>
          </a:ln>
        </p:spPr>
      </p:sp>
      <p:pic>
        <p:nvPicPr>
          <p:cNvPr id="20" name="Image 2" descr="/sessions/nice-compassionate-knuth/mnt/agent-workforce/web/lib/automations/workforce-update/assets/avatars/cred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068" y="2331720"/>
            <a:ext cx="1051560" cy="1051560"/>
          </a:xfrm>
          <a:prstGeom prst="ellipse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05278" y="3547872"/>
            <a:ext cx="1981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Iris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5105278" y="3950208"/>
            <a:ext cx="19811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668C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Customer Matcher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105278" y="42976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6B758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MATCH THE CUSTOMER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7697511" y="2295144"/>
            <a:ext cx="1124712" cy="11247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6EE"/>
            </a:solidFill>
            <a:prstDash val="solid"/>
          </a:ln>
        </p:spPr>
      </p:sp>
      <p:pic>
        <p:nvPicPr>
          <p:cNvPr id="25" name="Image 3" descr="/sessions/nice-compassionate-knuth/mnt/agent-workforce/web/lib/automations/workforce-update/assets/avatars/debbi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087" y="2331720"/>
            <a:ext cx="1051560" cy="1051560"/>
          </a:xfrm>
          <a:prstGeom prst="ellipse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69297" y="3547872"/>
            <a:ext cx="1981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Debbie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7269297" y="3950208"/>
            <a:ext cx="19811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668C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Team Lead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7269297" y="42976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6B758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DECIDE THE ACTION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9861530" y="2295144"/>
            <a:ext cx="1124712" cy="11247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3B2"/>
            </a:solidFill>
            <a:prstDash val="solid"/>
          </a:ln>
        </p:spPr>
      </p:sp>
      <p:pic>
        <p:nvPicPr>
          <p:cNvPr id="30" name="Image 4" descr="/sessions/nice-compassionate-knuth/mnt/agent-workforce/web/lib/automations/workforce-update/assets/avatars/invoicecop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8106" y="2331720"/>
            <a:ext cx="1051560" cy="1051560"/>
          </a:xfrm>
          <a:prstGeom prst="ellipse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433316" y="3547872"/>
            <a:ext cx="1981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Quinn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9433316" y="3950208"/>
            <a:ext cx="19811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668C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Drafter (+ team)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9433316" y="42976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6B758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 THE WORK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9433316" y="4608576"/>
            <a:ext cx="19811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9AA3B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NOT YET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85800" y="5074920"/>
            <a:ext cx="7863840" cy="960120"/>
          </a:xfrm>
          <a:prstGeom prst="rect">
            <a:avLst/>
          </a:prstGeom>
          <a:solidFill>
            <a:srgbClr val="EEF1F7"/>
          </a:solidFill>
          <a:ln/>
        </p:spPr>
      </p:sp>
      <p:sp>
        <p:nvSpPr>
          <p:cNvPr id="36" name="Shape 29"/>
          <p:cNvSpPr/>
          <p:nvPr/>
        </p:nvSpPr>
        <p:spPr>
          <a:xfrm>
            <a:off x="685800" y="5074920"/>
            <a:ext cx="82296" cy="960120"/>
          </a:xfrm>
          <a:prstGeom prst="rect">
            <a:avLst/>
          </a:prstGeom>
          <a:solidFill>
            <a:srgbClr val="E8531A"/>
          </a:solidFill>
          <a:ln/>
        </p:spPr>
      </p:sp>
      <p:pic>
        <p:nvPicPr>
          <p:cNvPr id="37" name="Image 5" descr="/sessions/nice-compassionate-knuth/mnt/agent-workforce/web/lib/automations/workforce-update/assets/avatars/tria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257800"/>
            <a:ext cx="594360" cy="594360"/>
          </a:xfrm>
          <a:prstGeom prst="ellipse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691640" y="5239512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53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NEW THIS MONTH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1691640" y="548640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Robin, </a:t>
            </a:r>
            <a:pPr indent="0" marL="0">
              <a:buNone/>
            </a:pPr>
            <a:r>
              <a:rPr lang="en-US" sz="1400" i="1" dirty="0">
                <a:solidFill>
                  <a:srgbClr val="1668C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Router</a:t>
            </a:r>
            <a:pPr indent="0" marL="0">
              <a:buNone/>
            </a:pPr>
            <a:r>
              <a:rPr lang="en-US" sz="1400" dirty="0">
                <a:solidFill>
                  <a:srgbClr val="46526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—  sorts info@ mail to the right department.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58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Cleo, Debbie and now Robin are on the roster; Marshall, Iris and Quinn are proposed names. Avatars: Personas by Draftbit (CC BY 4.0).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What's switched on, per mailbox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76695" y="640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B758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WHICH FUNNEL STAGE IS ACTIVE PER MAILBOX — AND WHAT YOU'LL SEE WHERE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207008"/>
            <a:ext cx="10820095" cy="0"/>
          </a:xfrm>
          <a:prstGeom prst="line">
            <a:avLst/>
          </a:prstGeom>
          <a:noFill/>
          <a:ln w="12700">
            <a:solidFill>
              <a:srgbClr val="E2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155448" cy="155448"/>
          </a:xfrm>
          <a:prstGeom prst="ellipse">
            <a:avLst/>
          </a:prstGeom>
          <a:solidFill>
            <a:srgbClr val="1668C7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12984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526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Live — acts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27248" y="1371600"/>
            <a:ext cx="155448" cy="155448"/>
          </a:xfrm>
          <a:prstGeom prst="ellipse">
            <a:avLst/>
          </a:prstGeom>
          <a:solidFill>
            <a:srgbClr val="E8531A"/>
          </a:solidFill>
          <a:ln/>
        </p:spPr>
      </p:sp>
      <p:sp>
        <p:nvSpPr>
          <p:cNvPr id="8" name="Text 6"/>
          <p:cNvSpPr/>
          <p:nvPr/>
        </p:nvSpPr>
        <p:spPr>
          <a:xfrm>
            <a:off x="3328416" y="12984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526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Dry-run — label only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568696" y="1371600"/>
            <a:ext cx="155448" cy="155448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10" name="Text 8"/>
          <p:cNvSpPr/>
          <p:nvPr/>
        </p:nvSpPr>
        <p:spPr>
          <a:xfrm>
            <a:off x="5769864" y="12984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526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Shadow — Bulk Review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10144" y="1371600"/>
            <a:ext cx="155448" cy="155448"/>
          </a:xfrm>
          <a:prstGeom prst="ellipse">
            <a:avLst/>
          </a:prstGeom>
          <a:solidFill>
            <a:srgbClr val="9AA3B2"/>
          </a:solidFill>
          <a:ln/>
        </p:spPr>
      </p:sp>
      <p:sp>
        <p:nvSpPr>
          <p:cNvPr id="12" name="Text 10"/>
          <p:cNvSpPr/>
          <p:nvPr/>
        </p:nvSpPr>
        <p:spPr>
          <a:xfrm>
            <a:off x="8211312" y="12984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526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Not yet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37360"/>
          <a:ext cx="1082009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46149"/>
                <a:gridCol w="1346149"/>
                <a:gridCol w="1346149"/>
                <a:gridCol w="1346149"/>
                <a:gridCol w="1346149"/>
                <a:gridCol w="1346149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Mailbox</a:t>
                      </a:r>
                      <a:endParaRPr lang="en-US" sz="11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Reads &amp; screens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Archives noise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Matches customer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Intent label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Routes to team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Drafts reply</a:t>
                      </a:r>
                      <a:endParaRPr lang="en-US" sz="8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253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verkoop@smeba.nl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○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◐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3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253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verkoop@fire-control.nl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○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◐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3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253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verkoop@berki.nl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○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◐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3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253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sales.products@berki.nl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○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◐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3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253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debiteuren@smeba.nl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○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◐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3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253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debiteuren@smeba-fire.be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○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◐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3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253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debiteuren@berki.nl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○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◐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3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253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administratie@fire-control.nl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○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◐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3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253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info@smeba.nl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253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info@fire-control.nl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8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253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order@smeba.nl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○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253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order@fire-control.nl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○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253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order@berki.nl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○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A3B2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–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85800" y="6419088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58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Shadow = behind the scenes (Bulk Review only). Dry-run = the label appears in Outlook, but no automatic action yet. Routes = info@ mail forwarded to the right team. States reflect current config — verify before sending.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What's new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207008"/>
            <a:ext cx="10820095" cy="0"/>
          </a:xfrm>
          <a:prstGeom prst="line">
            <a:avLst/>
          </a:prstGeom>
          <a:noFill/>
          <a:ln w="12700">
            <a:solidFill>
              <a:srgbClr val="E2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984248"/>
            <a:ext cx="457200" cy="457200"/>
          </a:xfrm>
          <a:prstGeom prst="ellipse">
            <a:avLst/>
          </a:prstGeom>
          <a:solidFill>
            <a:srgbClr val="E7F0F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8C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Sales assistant live on 4 mailboxes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2944368"/>
            <a:ext cx="457200" cy="457200"/>
          </a:xfrm>
          <a:prstGeom prst="ellipse">
            <a:avLst/>
          </a:prstGeom>
          <a:solidFill>
            <a:srgbClr val="E7F0F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8C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926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info@ mail auto-routed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85800" y="3904488"/>
            <a:ext cx="457200" cy="457200"/>
          </a:xfrm>
          <a:prstGeom prst="ellipse">
            <a:avLst/>
          </a:prstGeom>
          <a:solidFill>
            <a:srgbClr val="E7F0F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8C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886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Sharper customer matching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85800" y="4864608"/>
            <a:ext cx="457200" cy="457200"/>
          </a:xfrm>
          <a:prstGeom prst="ellipse">
            <a:avLst/>
          </a:prstGeom>
          <a:solidFill>
            <a:srgbClr val="E7F0F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864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8C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846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Less spam &amp; cold sales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76695" y="640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6B758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 DEVELOPMENT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207008"/>
            <a:ext cx="10820095" cy="0"/>
          </a:xfrm>
          <a:prstGeom prst="line">
            <a:avLst/>
          </a:prstGeom>
          <a:noFill/>
          <a:ln w="12700">
            <a:solidFill>
              <a:srgbClr val="E2E6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3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2011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each mailbox may do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3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2971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Handling rejected quotes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3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3931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Learning from your replies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" y="539496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58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Roadmap is a proposal based on the planning — adjust to what you want to communicate.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531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286000"/>
            <a:ext cx="2926080" cy="0"/>
          </a:xfrm>
          <a:prstGeom prst="line">
            <a:avLst/>
          </a:prstGeom>
          <a:noFill/>
          <a:ln w="38100">
            <a:solidFill>
              <a:srgbClr val="1668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Questions or feedback?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85800" y="34747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9D3E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Everything runs in shadow mode unless stated otherwise — no changes without your sign-off.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4754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Moyne Roberts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5166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Moyne Roberts · Trusted Safety Solutions  ·  MR Automations</a:t>
            </a:r>
            <a:endParaRPr lang="en-US" sz="1200" dirty="0"/>
          </a:p>
        </p:txBody>
      </p:sp>
      <p:pic>
        <p:nvPicPr>
          <p:cNvPr id="8" name="Image 0" descr="/sessions/nice-compassionate-knuth/mnt/agent-workforce/web/lib/automations/workforce-update/assets/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35040"/>
            <a:ext cx="12191695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2026-06-25T15:14:26Z</dcterms:created>
  <dcterms:modified xsi:type="dcterms:W3CDTF">2026-06-25T15:14:26Z</dcterms:modified>
</cp:coreProperties>
</file>